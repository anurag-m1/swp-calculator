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C87"/>
          </a:solidFill>
          <a:ln>
            <a:solidFill>
              <a:srgbClr val="224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3017520" cy="384048"/>
          </a:xfrm>
          <a:prstGeom prst="roundRect">
            <a:avLst/>
          </a:prstGeom>
          <a:solidFill>
            <a:srgbClr val="D79D2F"/>
          </a:solidFill>
          <a:ln>
            <a:solidFill>
              <a:srgbClr val="D79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13231"/>
            <a:ext cx="2798063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345F"/>
                </a:solidFill>
                <a:latin typeface="Aptos"/>
              </a:rPr>
              <a:t>FinCal Innovation Hackathon · Technex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297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SWP Calculator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Aptos"/>
              </a:rPr>
              <a:t>Interactive Systematic Withdrawal Plan planning tool with real-time UI, charting, and year-wise breakdown.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12344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59352"/>
            <a:ext cx="1014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345F"/>
                </a:solidFill>
                <a:latin typeface="Aptos"/>
              </a:rPr>
              <a:t>Next.js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3886200"/>
            <a:ext cx="12344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7128" y="3959352"/>
            <a:ext cx="1014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345F"/>
                </a:solidFill>
                <a:latin typeface="Aptos"/>
              </a:rPr>
              <a:t>React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886200"/>
            <a:ext cx="14173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3959352"/>
            <a:ext cx="11978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345F"/>
                </a:solidFill>
                <a:latin typeface="Aptos"/>
              </a:rPr>
              <a:t>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658368"/>
            <a:ext cx="598932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i-desktop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838" y="768096"/>
            <a:ext cx="2002443" cy="4956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96128" y="5797296"/>
            <a:ext cx="57698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678"/>
                </a:solidFill>
                <a:latin typeface="Aptos"/>
              </a:rPr>
              <a:t>Actual calculator UI captured from the running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678"/>
                </a:solidFill>
                <a:latin typeface="Aptos"/>
              </a:rPr>
              <a:t>SWP Calculator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345F"/>
                </a:solidFill>
                <a:latin typeface="Aptos Display"/>
              </a:rPr>
              <a:t>Desktop UI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8"/>
                </a:solidFill>
                <a:latin typeface="Aptos"/>
              </a:rPr>
              <a:t>The presentation now uses the real application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3152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-desktop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61" y="1344168"/>
            <a:ext cx="2020916" cy="5001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6419088"/>
            <a:ext cx="7095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678"/>
                </a:solidFill>
                <a:latin typeface="Aptos"/>
              </a:rPr>
              <a:t>Default desktop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611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517904"/>
            <a:ext cx="3282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What users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1883664"/>
            <a:ext cx="32826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A branded hero section, input controls, live KPI cards, a corpus chart, detailed yearly table, assumptions, and disclaimer.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3611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980944"/>
            <a:ext cx="3282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Live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3346704"/>
            <a:ext cx="32826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As sliders change, the stats, chart, and table update immediately using the TypeScript calculation engine.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480560"/>
            <a:ext cx="3611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4626864"/>
            <a:ext cx="3282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992624"/>
            <a:ext cx="32826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This makes the project feel like a real product demo instead of a static calculation 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678"/>
                </a:solidFill>
                <a:latin typeface="Aptos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345F"/>
                </a:solidFill>
                <a:latin typeface="Aptos Display"/>
              </a:rPr>
              <a:t>Balance Mode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8"/>
                </a:solidFill>
                <a:latin typeface="Aptos"/>
              </a:rPr>
              <a:t>Shows remaining corpus after a chosen investment period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3152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-balance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272" y="1344168"/>
            <a:ext cx="2012495" cy="5001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6419088"/>
            <a:ext cx="7095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678"/>
                </a:solidFill>
                <a:latin typeface="Aptos"/>
              </a:rPr>
              <a:t>Balance mode with the target-year slider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46304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Users can switch between Duration and Balance modes from the header toggle.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Balance mode reveals the investment-period slider and highlights corpus value at the chosen year.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The same screen keeps the chart, table, and assumptions visible for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4983480"/>
            <a:ext cx="2240280" cy="384048"/>
          </a:xfrm>
          <a:prstGeom prst="roundRect">
            <a:avLst/>
          </a:prstGeom>
          <a:solidFill>
            <a:srgbClr val="1F8A5B"/>
          </a:solidFill>
          <a:ln>
            <a:solidFill>
              <a:srgbClr val="1F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7" y="5056632"/>
            <a:ext cx="202082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Target balance at Year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61320" y="4983480"/>
            <a:ext cx="1097280" cy="384048"/>
          </a:xfrm>
          <a:prstGeom prst="roundRect">
            <a:avLst/>
          </a:prstGeom>
          <a:solidFill>
            <a:srgbClr val="D79D2F"/>
          </a:solidFill>
          <a:ln>
            <a:solidFill>
              <a:srgbClr val="D79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8" y="5056632"/>
            <a:ext cx="87782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345F"/>
                </a:solidFill>
                <a:latin typeface="Aptos"/>
              </a:rPr>
              <a:t>Unified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678"/>
                </a:solidFill>
                <a:latin typeface="Aptos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345F"/>
                </a:solidFill>
                <a:latin typeface="Aptos Display"/>
              </a:rPr>
              <a:t>Responsive Mobile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8"/>
                </a:solidFill>
                <a:latin typeface="Aptos"/>
              </a:rPr>
              <a:t>The interface also adapts to smaller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27432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921" y="1344168"/>
            <a:ext cx="375837" cy="4864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6281928"/>
            <a:ext cx="2523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678"/>
                </a:solidFill>
                <a:latin typeface="Aptos"/>
              </a:rPr>
              <a:t>Mobile layout captured from the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37160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50791" y="1517904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Mobile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791" y="1883664"/>
            <a:ext cx="32369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Inputs, KPI cards, chart, table, assumptions, and disclaimer stack vertically for easier scrolling.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71600"/>
            <a:ext cx="3657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1517904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Consistent styling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1883664"/>
            <a:ext cx="33284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The same blue visual identity, rounded cards, and financial widgets carry across breakpoints.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246120"/>
            <a:ext cx="7040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Useful for demos on laptop and phone screens.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Supports hackathon judging scenarios where portability matters.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Keeps the investor-education message clear even in a compact layout.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678"/>
                </a:solidFill>
                <a:latin typeface="Aptos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345F"/>
                </a:solidFill>
                <a:latin typeface="Aptos Display"/>
              </a:rPr>
              <a:t>Calculation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8"/>
                </a:solidFill>
                <a:latin typeface="Aptos"/>
              </a:rPr>
              <a:t>Month-wise simulation powers the live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72184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Monthly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37943"/>
            <a:ext cx="3191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r = annualReturn / 100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843784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Core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209544"/>
            <a:ext cx="31912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Each month the corpus earns return, then the configured withdrawal is applied.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4581144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Inflation Step-Up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946904"/>
            <a:ext cx="31912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When enabled, withdrawals increase once every 12 months.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17320"/>
            <a:ext cx="6583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Two modes are supported: corpus duration and target-year balance.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The engine stores month-wise rows and yearly aggregate rows.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Depletion is detected exactly and surfaced back into the UI.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Indian-number formatting improves readability for local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5074920"/>
            <a:ext cx="1737360" cy="384048"/>
          </a:xfrm>
          <a:prstGeom prst="roundRect">
            <a:avLst/>
          </a:prstGeom>
          <a:solidFill>
            <a:srgbClr val="224C87"/>
          </a:solidFill>
          <a:ln>
            <a:solidFill>
              <a:srgbClr val="224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5148072"/>
            <a:ext cx="151790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lib/swpCalc.ts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074920"/>
            <a:ext cx="1920240" cy="384048"/>
          </a:xfrm>
          <a:prstGeom prst="roundRect">
            <a:avLst/>
          </a:prstGeom>
          <a:solidFill>
            <a:srgbClr val="D79D2F"/>
          </a:solidFill>
          <a:ln>
            <a:solidFill>
              <a:srgbClr val="D79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5148072"/>
            <a:ext cx="170078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345F"/>
                </a:solidFill>
                <a:latin typeface="Aptos"/>
              </a:rPr>
              <a:t>hooks/useSWP.ts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5074920"/>
            <a:ext cx="1645920" cy="384048"/>
          </a:xfrm>
          <a:prstGeom prst="roundRect">
            <a:avLst/>
          </a:prstGeom>
          <a:solidFill>
            <a:srgbClr val="1F8A5B"/>
          </a:solidFill>
          <a:ln>
            <a:solidFill>
              <a:srgbClr val="1F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5148072"/>
            <a:ext cx="14264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components/*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678"/>
                </a:solidFill>
                <a:latin typeface="Aptos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345F"/>
                </a:solidFill>
                <a:latin typeface="Aptos Display"/>
              </a:rPr>
              <a:t>Testing And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8"/>
                </a:solidFill>
                <a:latin typeface="Aptos"/>
              </a:rPr>
              <a:t>The project is not just UI; the financial logic is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Jest tests cover monthly rate conversion, depletion logic, balance mode, inflation step-up, totals, yearly aggregation, and edge cases.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The calculator logic is implemented outside React, which makes it easier to test and maintain.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Build verification confirms the Next.js app compiles successfully.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93992" y="1517904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3992" y="1883664"/>
            <a:ext cx="14996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106 passing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517904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7112" y="1883664"/>
            <a:ext cx="14996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Production build successful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926080"/>
            <a:ext cx="3931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3072384"/>
            <a:ext cx="3602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Project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438144"/>
            <a:ext cx="3602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Polished UI plus reliable calculation logic makes the project presentation stronger.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663440"/>
            <a:ext cx="3931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4809744"/>
            <a:ext cx="3602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C87"/>
                </a:solidFill>
                <a:latin typeface="Aptos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5175504"/>
            <a:ext cx="3602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Scenario comparison, tax-aware calculations, exportable reports, and advanced simulations.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678"/>
                </a:solidFill>
                <a:latin typeface="Aptos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345F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8"/>
                </a:solidFill>
                <a:latin typeface="Aptos"/>
              </a:rPr>
              <a:t>A project presentation aligned with the real product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The deck now reflects the actual application screens instead of generic placeholder content.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It highlights the core product flow: desktop usage, balance mode, mobile responsiveness, logic, and testing.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This makes the PPT much more suitable for project submission and demo walkthroughs.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2344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-desktop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85" y="1344168"/>
            <a:ext cx="1632989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53328" y="5458968"/>
            <a:ext cx="5175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678"/>
                </a:solidFill>
                <a:latin typeface="Aptos"/>
              </a:rPr>
              <a:t>Real app screenshot used in the final slide as well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1325880" cy="420624"/>
          </a:xfrm>
          <a:prstGeom prst="roundRect">
            <a:avLst/>
          </a:prstGeom>
          <a:solidFill>
            <a:srgbClr val="224C87"/>
          </a:solidFill>
          <a:ln>
            <a:solidFill>
              <a:srgbClr val="224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056632"/>
            <a:ext cx="1106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4983480"/>
            <a:ext cx="2148840" cy="420624"/>
          </a:xfrm>
          <a:prstGeom prst="roundRect">
            <a:avLst/>
          </a:prstGeom>
          <a:solidFill>
            <a:srgbClr val="D79D2F"/>
          </a:solidFill>
          <a:ln>
            <a:solidFill>
              <a:srgbClr val="D79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5056632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345F"/>
                </a:solidFill>
                <a:latin typeface="Aptos"/>
              </a:rPr>
              <a:t>Investor education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678"/>
                </a:solidFill>
                <a:latin typeface="Aptos"/>
              </a:rPr>
              <a:t>Slide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